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798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29000"/>
            <a:ext cx="390449" cy="3429000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05956"/>
            <a:ext cx="12191695" cy="352044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" y="360274"/>
            <a:ext cx="1596542" cy="4562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6189" y="11887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CAPSTONE PROJECT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96189" y="1572768"/>
            <a:ext cx="44805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SmartStream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/>
              <a:t>AI-Powered Entertainment Recommendation System</a:t>
            </a:r>
          </a:p>
        </p:txBody>
      </p:sp>
      <p:sp>
        <p:nvSpPr>
          <p:cNvPr id="10" name="Text 7"/>
          <p:cNvSpPr/>
          <p:nvPr/>
        </p:nvSpPr>
        <p:spPr>
          <a:xfrm>
            <a:off x="596189" y="27926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96189" y="3547872"/>
            <a:ext cx="44805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PRESENTED BY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 NAME:  Haren Pandya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COLLEGE NAME:</a:t>
            </a:r>
            <a:r>
              <a:rPr lang="en-US" sz="1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R. N. G. Patel Institute of Technology</a:t>
            </a:r>
            <a:r>
              <a:rPr lang="en-US" sz="1250" b="1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DEPARTMENT:  </a:t>
            </a:r>
            <a:r>
              <a:rPr lang="en-IN" sz="1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and Engineering</a:t>
            </a:r>
            <a:endParaRPr lang="en-US" sz="1250" b="1" dirty="0">
              <a:latin typeface="Times New Roman" panose="02020603050405020304" pitchFamily="18" charset="0"/>
              <a:ea typeface="Trebuchet MS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ID:  pandyaharen4@gmail</a:t>
            </a:r>
            <a:r>
              <a:rPr lang="en-US" sz="125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.com</a:t>
            </a:r>
            <a:endParaRPr lang="en-US" sz="1250" dirty="0"/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5CD84877-6182-72A8-58E9-4A8F832FAFD1}"/>
              </a:ext>
            </a:extLst>
          </p:cNvPr>
          <p:cNvSpPr/>
          <p:nvPr/>
        </p:nvSpPr>
        <p:spPr>
          <a:xfrm>
            <a:off x="5391150" y="276031"/>
            <a:ext cx="6115050" cy="6210300"/>
          </a:xfrm>
          <a:custGeom>
            <a:avLst/>
            <a:gdLst/>
            <a:ahLst/>
            <a:cxnLst/>
            <a:rect l="l" t="t" r="r" b="b"/>
            <a:pathLst>
              <a:path w="6115050" h="6210300">
                <a:moveTo>
                  <a:pt x="6115050" y="0"/>
                </a:moveTo>
                <a:lnTo>
                  <a:pt x="0" y="0"/>
                </a:lnTo>
                <a:lnTo>
                  <a:pt x="0" y="6210300"/>
                </a:lnTo>
                <a:lnTo>
                  <a:pt x="6115050" y="6210300"/>
                </a:lnTo>
                <a:lnTo>
                  <a:pt x="61150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9">
            <a:extLst>
              <a:ext uri="{FF2B5EF4-FFF2-40B4-BE49-F238E27FC236}">
                <a16:creationId xmlns:a16="http://schemas.microsoft.com/office/drawing/2014/main" id="{2A515D71-6DBF-669C-8173-D87366CE4D89}"/>
              </a:ext>
            </a:extLst>
          </p:cNvPr>
          <p:cNvPicPr/>
          <p:nvPr/>
        </p:nvPicPr>
        <p:blipFill>
          <a:blip r:embed="rId4"/>
          <a:srcRect l="4499" r="4499"/>
          <a:stretch/>
        </p:blipFill>
        <p:spPr>
          <a:xfrm>
            <a:off x="6951306" y="1188720"/>
            <a:ext cx="4114800" cy="4521615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OUTLINE: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12063" y="1703527"/>
            <a:ext cx="7213683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150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System/Solution</a:t>
            </a:r>
            <a:endParaRPr lang="en-US" sz="2150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Development Approach</a:t>
            </a:r>
            <a:endParaRPr lang="en-US" sz="2150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&amp; Deployment</a:t>
            </a:r>
            <a:endParaRPr lang="en-US" sz="2150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2150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150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2150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STATEMENT: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08153" y="1417321"/>
            <a:ext cx="11430000" cy="4367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entertainment and media industry has undergone a massive digital transformation with the rise of streaming platforms, social media, and online content consumption. However, this rapid growth has introduced several challenges: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Content Overload: Millions of movies, shows, songs, and videos are uploaded daily, making it difficult for users to discover relevant content.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Audience Preference Prediction: Understanding what users like or dislike is complex due to diverse tastes and changing trends.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Revenue Optimization: Platforms struggle to balance user satisfaction with monetization strategies such as ads and subscriptions.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Fake Engagement: Inflated views, fake likes, and bot-driven engagement distort content performance metrics.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Sentiment Volatility: Audience opinions shift rapidly based on reviews, social media trends, and cultural factors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SOLUTION: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98094" y="1345082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4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Overview: </a:t>
            </a:r>
            <a:r>
              <a:rPr lang="en-US" sz="2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Analyze user behavior and predict content performance using machine learning and data analytics techniques.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Collection: </a:t>
            </a:r>
            <a:r>
              <a:rPr lang="en-US" sz="2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Gather datasets from streaming platforms, social media, and content aggregators (IMDb, YouTube, Spotify, Netflix).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Preprocessing: </a:t>
            </a:r>
            <a:r>
              <a:rPr lang="en-US" sz="2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Clean missing values, handle imbalanced classes, engineer features like genre tags, engagement ratios, and sentiment scores.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ML Models: </a:t>
            </a:r>
            <a:r>
              <a:rPr lang="en-US" sz="2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recommendation systems, churn prediction models, and sentiment classifiers using supervised/unsupervised learning.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Deployment: </a:t>
            </a:r>
            <a:r>
              <a:rPr lang="en-US" sz="2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Deploy an interactive dashboard using </a:t>
            </a:r>
            <a:r>
              <a:rPr lang="en-US" sz="2400" dirty="0" err="1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Streamlit</a:t>
            </a:r>
            <a:r>
              <a:rPr lang="en-US" sz="2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or Flask showing real-time recommendations and content popularity trends.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Evaluation: </a:t>
            </a:r>
            <a:r>
              <a:rPr lang="en-US" sz="2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Assess using </a:t>
            </a:r>
            <a:r>
              <a:rPr lang="en-US" sz="2400" dirty="0" err="1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Precision@K</a:t>
            </a:r>
            <a:r>
              <a:rPr lang="en-US" sz="2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RMSE, F1-Score, and user satisfaction metrics</a:t>
            </a: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APPROACH: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96850" y="141732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>
              <a:solidFill>
                <a:srgbClr val="1A6B5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"System Approach" section outlines the overall strategy and methodology for developing and implementing the Entertainment &amp; Media analytics system. Here's the structure for this section: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77A42BC5-0B40-8A4B-59B6-41138F0D89E8}"/>
              </a:ext>
            </a:extLst>
          </p:cNvPr>
          <p:cNvSpPr/>
          <p:nvPr/>
        </p:nvSpPr>
        <p:spPr>
          <a:xfrm>
            <a:off x="527926" y="2593695"/>
            <a:ext cx="5394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  <a:buSzPct val="100000"/>
            </a:pPr>
            <a:endParaRPr lang="en-US" sz="1900" dirty="0"/>
          </a:p>
        </p:txBody>
      </p:sp>
      <p:sp>
        <p:nvSpPr>
          <p:cNvPr id="15" name="Text 4"/>
          <p:cNvSpPr/>
          <p:nvPr/>
        </p:nvSpPr>
        <p:spPr>
          <a:xfrm>
            <a:off x="527926" y="2846835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2000" dirty="0">
              <a:solidFill>
                <a:srgbClr val="1A1A2E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2000" dirty="0">
              <a:solidFill>
                <a:srgbClr val="1A1A2E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2000" dirty="0">
              <a:solidFill>
                <a:srgbClr val="1A1A2E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2000" dirty="0">
              <a:solidFill>
                <a:srgbClr val="1A1A2E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2000" dirty="0">
              <a:solidFill>
                <a:srgbClr val="1A1A2E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2000" dirty="0">
              <a:solidFill>
                <a:srgbClr val="1A1A2E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2000" dirty="0">
              <a:solidFill>
                <a:srgbClr val="1A1A2E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2000" dirty="0">
              <a:solidFill>
                <a:srgbClr val="1A1A2E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2000" dirty="0">
              <a:solidFill>
                <a:srgbClr val="1A1A2E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requirements: Python 3.8+, 8GB RAM, GPU recommended for deep learning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Libraries required: pandas, </a:t>
            </a:r>
            <a:r>
              <a:rPr lang="en-US" sz="2000" dirty="0" err="1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numpy</a:t>
            </a: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scikit-learn, TensorFlow/</a:t>
            </a:r>
            <a:r>
              <a:rPr lang="en-US" sz="2000" dirty="0" err="1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PyTorch</a:t>
            </a: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surprise (for recommendation), NLTK/transformers (for NLP), </a:t>
            </a:r>
            <a:r>
              <a:rPr lang="en-US" sz="2000" dirty="0" err="1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Streamlit</a:t>
            </a: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/Flask (deployment)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Dataset sources: </a:t>
            </a:r>
            <a:r>
              <a:rPr lang="en-US" sz="2000" dirty="0" err="1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MovieLens</a:t>
            </a: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IMDb reviews, Spotify listening history, YouTube statistics API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Development environment: </a:t>
            </a:r>
            <a:r>
              <a:rPr lang="en-US" sz="2000" dirty="0" err="1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Jupyter</a:t>
            </a: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Notebook / Google </a:t>
            </a:r>
            <a:r>
              <a:rPr lang="en-US" sz="2000" dirty="0" err="1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Colab</a:t>
            </a: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/ VS Code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02A1ED30-D011-2A4E-44AC-43E4B2E1C206}"/>
              </a:ext>
            </a:extLst>
          </p:cNvPr>
          <p:cNvSpPr/>
          <p:nvPr/>
        </p:nvSpPr>
        <p:spPr>
          <a:xfrm>
            <a:off x="6399276" y="2667323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9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984E22FB-2517-C059-D651-32FEFF505B9F}"/>
              </a:ext>
            </a:extLst>
          </p:cNvPr>
          <p:cNvSpPr/>
          <p:nvPr/>
        </p:nvSpPr>
        <p:spPr>
          <a:xfrm>
            <a:off x="6399276" y="2645555"/>
            <a:ext cx="5394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 &amp; DEPLOYMENT: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98094" y="1484071"/>
            <a:ext cx="115214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 Algorithm Selection: </a:t>
            </a:r>
            <a:r>
              <a:rPr lang="en-US" sz="2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Collaborative Filtering (SVD), Content-Based Filtering, and LSTM for sequence modeling. Sentiment analysis via BERT fine-tuning. Popularity prediction using </a:t>
            </a:r>
            <a:r>
              <a:rPr lang="en-US" sz="2400" dirty="0" err="1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XGBoost</a:t>
            </a:r>
            <a:r>
              <a:rPr lang="en-US" sz="2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/Random Forest.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 Data Input: </a:t>
            </a:r>
            <a:r>
              <a:rPr lang="en-US" sz="2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User ratings, watch history, metadata (genre, cast, duration), social media comments, and engagement metrics (views, likes, shares).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 Training Process: </a:t>
            </a:r>
            <a:r>
              <a:rPr lang="en-US" sz="2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Train/test split with 80/20 ratio. Cross-validation (k=5). Hyperparameter tuning via </a:t>
            </a:r>
            <a:r>
              <a:rPr lang="en-US" sz="2400" dirty="0" err="1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GridSearchCV</a:t>
            </a:r>
            <a:r>
              <a:rPr lang="en-US" sz="2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 Class imbalance handled using SMOTE.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 Prediction Process: </a:t>
            </a:r>
            <a:r>
              <a:rPr lang="en-US" sz="2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Real-time content recommendations for active users. Churn probability scores updated weekly. Sentiment dashboard updated daily from social media feeds.</a:t>
            </a: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ea typeface="Franklin Gothic Medium" pitchFamily="34" charset="-122"/>
                <a:cs typeface="Times New Roman" panose="02020603050405020304" pitchFamily="18" charset="0"/>
              </a:rPr>
              <a:t>.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RESULT:</a:t>
            </a:r>
            <a:endParaRPr lang="en-US" sz="4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581274"/>
              </p:ext>
            </p:extLst>
          </p:nvPr>
        </p:nvGraphicFramePr>
        <p:xfrm>
          <a:off x="298094" y="1417320"/>
          <a:ext cx="11430000" cy="2338296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6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5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Achieved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5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5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5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Collaborative Filtering (SVD)</a:t>
                      </a:r>
                      <a:endParaRPr lang="en-US" sz="11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RMSE: 0.87 | Precision@10: 76%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RMSE &lt; 1.0 | Precision@10 &gt; 70%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34A75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✔ Met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Content-Based Filtering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Precision@10: 71% | Recall: 68%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Precision@10 &gt; 65% | Recall &gt; 60%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34A75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✔ Met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RMSE: 0.74 | Precision@10: 82%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RMSE &lt; 0.80 | Precision@10 &gt; 78%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34A75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✔ Met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 Sentiment Classifier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Accuracy: 91% | F1-Score: 0.89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Accuracy &gt; 85% | F1 &gt; 0.80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34A75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✔ Met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Churn Prediction (XGBoost)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Accuracy: 88% | AUC: 0.91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Accuracy &gt; 85% | AUC &gt; 0.88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34A75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✔ Met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Fake Engagement Detection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Precision: 84% | Recall: 80%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A1A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Precision &gt; 80% | Recall &gt; 75%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34A75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✔ Met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298094" y="4507189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Training &amp; Development Results: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98094" y="4663440"/>
            <a:ext cx="11521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All SmartStream models achieved or exceeded their performance targets. The Hybrid Recommendation Model delivered the strongest results with RMSE 0.74 and Precision@10 of 82%, while BERT Sentiment Analysis reached 91% accuracy, validating the system's end-to-end effectiveness.</a:t>
            </a:r>
            <a:r>
              <a:rPr lang="en-US" sz="1850" b="1" dirty="0">
                <a:latin typeface="Times New Roman" panose="02020603050405020304" pitchFamily="18" charset="0"/>
                <a:ea typeface="Franklin Gothic Medium" pitchFamily="34" charset="-122"/>
                <a:cs typeface="Times New Roman" panose="02020603050405020304" pitchFamily="18" charset="0"/>
              </a:rPr>
              <a:t>.</a:t>
            </a:r>
            <a:endParaRPr lang="en-US" sz="18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CONCLUSION: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41986" y="1417320"/>
            <a:ext cx="1143000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Times New Roman" panose="02020603050405020304" pitchFamily="18" charset="0"/>
                <a:ea typeface="Franklin Gothic Medium" pitchFamily="34" charset="-122"/>
                <a:cs typeface="Times New Roman" panose="02020603050405020304" pitchFamily="18" charset="0"/>
              </a:rPr>
              <a:t>SmartStream successfully delivers an end-to-end AI/ML solution for personalized entertainment recommendations, integrating machine learning, NLP, and cloud deployment into a production-grade system.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Times New Roman" panose="02020603050405020304" pitchFamily="18" charset="0"/>
                <a:ea typeface="Franklin Gothic Medium" pitchFamily="34" charset="-122"/>
                <a:cs typeface="Times New Roman" panose="02020603050405020304" pitchFamily="18" charset="0"/>
              </a:rPr>
              <a:t> 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50" b="1" dirty="0">
                <a:solidFill>
                  <a:srgbClr val="000000"/>
                </a:solidFill>
                <a:latin typeface="Times New Roman" panose="02020603050405020304" pitchFamily="18" charset="0"/>
                <a:ea typeface="Franklin Gothic Medium" pitchFamily="34" charset="-122"/>
                <a:cs typeface="Times New Roman" panose="02020603050405020304" pitchFamily="18" charset="0"/>
              </a:rPr>
              <a:t>Key Outcomes: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Times New Roman" panose="02020603050405020304" pitchFamily="18" charset="0"/>
                <a:ea typeface="Franklin Gothic Medium" pitchFamily="34" charset="-122"/>
                <a:cs typeface="Times New Roman" panose="02020603050405020304" pitchFamily="18" charset="0"/>
              </a:rPr>
              <a:t>Hybrid Recommendation Model (SVD + Content-Based) achieves Precision@10 of 82% and RMSE of 0.74 on MovieLens dataset.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Times New Roman" panose="02020603050405020304" pitchFamily="18" charset="0"/>
                <a:ea typeface="Franklin Gothic Medium" pitchFamily="34" charset="-122"/>
                <a:cs typeface="Times New Roman" panose="02020603050405020304" pitchFamily="18" charset="0"/>
              </a:rPr>
              <a:t>BERT Sentiment Classifier achieves 91% accuracy on IMDb and social media reviews with F1-Score of 0.89.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Times New Roman" panose="02020603050405020304" pitchFamily="18" charset="0"/>
                <a:ea typeface="Franklin Gothic Medium" pitchFamily="34" charset="-122"/>
                <a:cs typeface="Times New Roman" panose="02020603050405020304" pitchFamily="18" charset="0"/>
              </a:rPr>
              <a:t>Churn Prediction Model (XGBoost) achieves 88% accuracy, helping platforms identify at-risk users in advance.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Times New Roman" panose="02020603050405020304" pitchFamily="18" charset="0"/>
                <a:ea typeface="Franklin Gothic Medium" pitchFamily="34" charset="-122"/>
                <a:cs typeface="Times New Roman" panose="02020603050405020304" pitchFamily="18" charset="0"/>
              </a:rPr>
              <a:t>Interactive Streamlit dashboard deployed with real-time content recommendations, popularity trends, and sentiment heatmaps.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Times New Roman" panose="02020603050405020304" pitchFamily="18" charset="0"/>
                <a:ea typeface="Franklin Gothic Medium" pitchFamily="34" charset="-122"/>
                <a:cs typeface="Times New Roman" panose="02020603050405020304" pitchFamily="18" charset="0"/>
              </a:rPr>
              <a:t> 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50" b="1" dirty="0">
                <a:solidFill>
                  <a:srgbClr val="000000"/>
                </a:solidFill>
                <a:latin typeface="Times New Roman" panose="02020603050405020304" pitchFamily="18" charset="0"/>
                <a:ea typeface="Franklin Gothic Medium" pitchFamily="34" charset="-122"/>
                <a:cs typeface="Times New Roman" panose="02020603050405020304" pitchFamily="18" charset="0"/>
              </a:rPr>
              <a:t>Challenges Overcome: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Times New Roman" panose="02020603050405020304" pitchFamily="18" charset="0"/>
                <a:ea typeface="Franklin Gothic Medium" pitchFamily="34" charset="-122"/>
                <a:cs typeface="Times New Roman" panose="02020603050405020304" pitchFamily="18" charset="0"/>
              </a:rPr>
              <a:t>Handling cold-start problem for new users, managing sparse rating matrices, filtering fake engagement/bot activity, and balancing recommendation diversity with accuracy.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Times New Roman" panose="02020603050405020304" pitchFamily="18" charset="0"/>
                <a:ea typeface="Franklin Gothic Medium" pitchFamily="34" charset="-122"/>
                <a:cs typeface="Times New Roman" panose="02020603050405020304" pitchFamily="18" charset="0"/>
              </a:rPr>
              <a:t> </a:t>
            </a:r>
            <a:r>
              <a:rPr lang="en-US" sz="1850" b="1" dirty="0">
                <a:solidFill>
                  <a:srgbClr val="000000"/>
                </a:solidFill>
                <a:latin typeface="Times New Roman" panose="02020603050405020304" pitchFamily="18" charset="0"/>
                <a:ea typeface="Franklin Gothic Medium" pitchFamily="34" charset="-122"/>
                <a:cs typeface="Times New Roman" panose="02020603050405020304" pitchFamily="18" charset="0"/>
              </a:rPr>
              <a:t>Impact: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Times New Roman" panose="02020603050405020304" pitchFamily="18" charset="0"/>
                <a:ea typeface="Franklin Gothic Medium" pitchFamily="34" charset="-122"/>
                <a:cs typeface="Times New Roman" panose="02020603050405020304" pitchFamily="18" charset="0"/>
              </a:rPr>
              <a:t>Enhances user discovery and engagement on streaming platforms, reduces churn, optimizes content monetization, and provides a scalable AI solution for the entertainment industry.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SCOPE: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41986" y="14173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50" i="1" u="sng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SmartStream establishes a strong foundation for intelligent content discovery. The following enhancements are planned to expand its capabilities and real-world applicability:</a:t>
            </a:r>
            <a:endParaRPr lang="en-US" sz="2150" i="1" u="sng" dirty="0"/>
          </a:p>
        </p:txBody>
      </p:sp>
      <p:sp>
        <p:nvSpPr>
          <p:cNvPr id="7" name="Text 4"/>
          <p:cNvSpPr/>
          <p:nvPr/>
        </p:nvSpPr>
        <p:spPr>
          <a:xfrm>
            <a:off x="341986" y="2173724"/>
            <a:ext cx="11430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Multi-Modal Recommendations: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Incorporate audio, video previews, and visual features alongside ratings for richer, context-aware content recommendations.</a:t>
            </a:r>
            <a:endParaRPr lang="en-US" sz="2100" dirty="0"/>
          </a:p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v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Real-Time Personalization: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Deploy streaming recommendation updates using Apache Kafka and Redis to reflect user behavior in real time without batch retraining.</a:t>
            </a:r>
            <a:endParaRPr lang="en-US" sz="2100" dirty="0"/>
          </a:p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v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Cross-Platform Integration: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Expand recommendations across Netflix, Spotify, YouTube, and social platforms using unified user profiles and federated data.</a:t>
            </a:r>
            <a:endParaRPr lang="en-US" sz="2100" dirty="0"/>
          </a:p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v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Explainable AI (XAI):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Integrate SHAP and LIME to provide users transparent explanations for why content was recommended, improving trust and engagement.</a:t>
            </a:r>
            <a:endParaRPr lang="en-US" sz="2100" dirty="0"/>
          </a:p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v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Deep Learning Enhancement: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Replace SVD with Neural Collaborative Filtering (NCF) and Graph Neural Networks (GNN) for capturing complex user-item interaction patterns.</a:t>
            </a:r>
            <a:endParaRPr lang="en-US" sz="2100" dirty="0"/>
          </a:p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v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Fake Engagement Detection: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Deploy advanced bot detection using network analysis and behavioral fingerprinting to eliminate fake views, likes, and inflated engagement metrics.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REFERENCES: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41986" y="1417320"/>
            <a:ext cx="1143000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Datasets: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MovieLens 25M Dataset — 25M ratings, 62,000 movies  |  grouplens.org/datasets/movielens/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IMDb Reviews Dataset — 50,000 labeled reviews for sentiment analysis  |  ai.stanford.edu/~amaas/data/sentiment/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Spotify Million Playlist Dataset — 1M playlists, 66M tracks  |  research.atspotify.com/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Technologies: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Scikit-Surprise  —  surpriselib.com/  |  HuggingFace Transformers  —  huggingface.co/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TensorFlow  —  tensorflow.org/  |  Scikit-learn  —  scikit-learn.org/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Streamlit  —  streamlit.io/  |  XGBoost  —  xgboost.readthedocs.io/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Research Papers: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He et al. — Neural Collaborative Filtering (WWW 2017)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Devlin et al. — BERT: Pre-training of Deep Bidirectional Transformers for Language Understanding (NAACL 2019)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Koren et al. — Matrix Factorization Techniques for Recommender Systems (IEEE Computer, 2009)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 </a:t>
            </a:r>
            <a:endParaRPr lang="en-US" sz="1800" dirty="0"/>
          </a:p>
          <a:p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GitHub Link: </a:t>
            </a:r>
            <a:r>
              <a:rPr lang="en-US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https://github.com/cseharen-ux/SmartStream-Recommendation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54626" y="3027578"/>
            <a:ext cx="3093415" cy="758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1274</Words>
  <Application>Microsoft Office PowerPoint</Application>
  <PresentationFormat>Widescreen</PresentationFormat>
  <Paragraphs>140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Franklin Gothic Medium</vt:lpstr>
      <vt:lpstr>Times New Roman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Rutvi</cp:lastModifiedBy>
  <cp:revision>4</cp:revision>
  <dcterms:created xsi:type="dcterms:W3CDTF">2026-03-26T06:21:41Z</dcterms:created>
  <dcterms:modified xsi:type="dcterms:W3CDTF">2026-04-09T16:51:26Z</dcterms:modified>
</cp:coreProperties>
</file>